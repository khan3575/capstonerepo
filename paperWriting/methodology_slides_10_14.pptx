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411480" cy="3200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SLIC Superpixels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Step 1 — Spatial Compression of MRI Slices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3657600" cy="237744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875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Algorithm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298448"/>
            <a:ext cx="34747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Algorithm :  SLIC (Simple Linear Iterative Clustering)
Applied on :  T1CE channel only
  (highest tumour contrast)
Target K :  200 superpixels per slice
Compactness :  0.1
Sigma :  0.3
Realised :  ~46 superpixels per slice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429000"/>
            <a:ext cx="3657600" cy="155448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35021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Why T1CE?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813048"/>
            <a:ext cx="34747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Contrast agent highlights areas where
blood-brain barrier is broken
→ Active tumour tissue appears bright
→ Clearest tumour boundary signal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914400"/>
            <a:ext cx="7589520" cy="1280160"/>
          </a:xfrm>
          <a:prstGeom prst="rect">
            <a:avLst/>
          </a:prstGeom>
          <a:solidFill>
            <a:srgbClr val="1A2E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960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2,284×  Spatial Compression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417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8,928,000 voxels per patient   →   ~3,909 superpixel nodes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331720"/>
            <a:ext cx="3566160" cy="265176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24048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Per Slice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715768"/>
            <a:ext cx="338328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Raw MRI slice :
  155 × 240 = 37,200 pixels
After SLIC :
  ~46 superpixels
Compression per slice :
  ~808×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331720"/>
            <a:ext cx="3840480" cy="265176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2404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Per Patient (Full Volume)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2715768"/>
            <a:ext cx="3657600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MRI volume :
  155 slices × 240 × 240 = 8.9M voxels
After SLIC :
  ~46 nodes × 155 slices ≈ 7,130 nodes
  (paired-slice → ~3,909 graph nodes)
This is WHY inference is fast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12064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Each superpixel is a compact, semantically meaningful region — far better than raw pixels as a unit of analysis.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411480" cy="3200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Graph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Step 2 — Building the Paired-Slice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5029200" cy="128016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875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Graph Unit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298448"/>
            <a:ext cx="4846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Input :  2 consecutive axial MRI slices
Nodes :  ~92 superpixels   |   Edges :  ~180 connections
One graph unit per paired slice through the full volume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77440"/>
            <a:ext cx="5577840" cy="219456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4505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Edge Type 1 — Intra-Slice  (within same slice)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761488"/>
            <a:ext cx="539496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Method :  Region Adjacency Graph (RAG)
Rule :  4-connectivity boundary adjacency
Connects superpixels that share a physical border
Captures :  tissue boundaries, local spatial structure
→ If two regions are adjacent, they likely have
   biologically meaningful relationship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377440"/>
            <a:ext cx="5760720" cy="219456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245059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Edge Type 2 — Inter-Slice  (across two slices)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761488"/>
            <a:ext cx="557784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Method :  k-Nearest Neighbours  (k = 3)
Criteria — edge only if BOTH hold:
  • IoU overlap  &gt;  0.1  (10%)
  • Centroid distance  &lt;  10 mm
Captures :  3D spatial continuity of tumour
→ Links the same anatomical region across
   consecutive slices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754880"/>
            <a:ext cx="11612880" cy="868680"/>
          </a:xfrm>
          <a:prstGeom prst="rect">
            <a:avLst/>
          </a:prstGeom>
          <a:solidFill>
            <a:srgbClr val="1A2E44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77316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~92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480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nodes per 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77316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~180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1480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edges per 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77316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1480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edge types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77316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B4D8"/>
                </a:solidFill>
              </a:rPr>
              <a:t>2,284×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51480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compression vs raw voxels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76072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Two-slice structure lets the model learn both spatial adjacency (within slice) and volumetric continuity (across slices).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411480" cy="3200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Node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Step 3 — 15-Dimensional Feature Vector per Superpixel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868680"/>
            <a:ext cx="11612880" cy="41148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869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Each node (superpixel) is described by 15 features across 3 groups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20"/>
            <a:ext cx="3749039" cy="393192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490472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Group 1 — Intensity Features  (8)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801368"/>
            <a:ext cx="3566159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For each of the 4 MRI modalities:
  T1 · T1CE · T2 · FLAIR
Extract 2 statistics:
  • Mean intensity of pixels in superpixel
  • Standard deviation of intensity
4 modalities × 2 stats = 8 features
Tells the model WHAT the tissue looks like
in each imaging contrast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417320"/>
            <a:ext cx="3566160" cy="393192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14904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Group 2 — Spatial Features  (4)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1801368"/>
            <a:ext cx="338328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1.  Area
    Pixel count inside superpixel
2.  Normalised Area
    Area ÷ total slice area
3.  Y-Centroid
    Vertical position in slice
4.  X-Centroid
    Horizontal position in slice
Tells the model WHERE the region 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1417320"/>
            <a:ext cx="3931920" cy="393192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7" y="1490472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42"/>
                </a:solidFill>
              </a:rPr>
              <a:t>Group 3 — Morphological Features  (3)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7" y="1801368"/>
            <a:ext cx="374904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1.  Perimeter
    Boundary length of superpixel
2.  Compactness
    Perimeter² ÷ (4π × Area)
    Circle = 1.0, irregular shapes &lt; 1
3.  Intensity Range
    Max − Min pixel intensity
Tells the model the SHAPE and
texture complexity of the region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486400"/>
            <a:ext cx="11612880" cy="502920"/>
          </a:xfrm>
          <a:prstGeom prst="rect">
            <a:avLst/>
          </a:prstGeom>
          <a:solidFill>
            <a:srgbClr val="1A2E44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55040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Total:  8 (intensity)  +  4 (spatial)  +  3 (morphological)  =  15 features per 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108192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Combined, these features capture what the tissue is, where it is, and what shape it has — sufficient to classify tumour vs. healthy.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411480" cy="3200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GraphSAGE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Graph Sample and Aggregate — Inductive GNN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5669280" cy="228600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87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Why GraphSAGE? (Not GCN or GAT)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298448"/>
            <a:ext cx="548640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Key property:  INDUCTIVE learning
GCN / GAT are transductive:
  → require the full graph at training time
  → cannot generalise to unseen graphs
GraphSAGE learns a neighbourhood SAMPLING
FUNCTION, not a fixed adjacency matrix
  → works on any graph at inference time
  → enables zero-shot transfer to BraTS 2023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5669280" cy="228600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987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Architecture Specifications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298448"/>
            <a:ext cx="548640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Layers :            5  GraphSAGE layers
Hidden channels :   256  per layer
Output dimension :  64
Aggregation :       Mean pooling
Total parameters :  439,041
                    (&lt; 0.5 million)
Task :              Binary node classification
                    (tumour vs. healthy per superpixel)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83280"/>
            <a:ext cx="11612880" cy="1417320"/>
          </a:xfrm>
          <a:prstGeom prst="rect">
            <a:avLst/>
          </a:prstGeom>
          <a:solidFill>
            <a:srgbClr val="1A2E44"/>
          </a:solidFill>
          <a:ln w="1270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29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Message Passing Flow  (per layer):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794760"/>
            <a:ext cx="1463040" cy="731520"/>
          </a:xfrm>
          <a:prstGeom prst="rect">
            <a:avLst/>
          </a:prstGeom>
          <a:solidFill>
            <a:srgbClr val="1B6CA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8404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Input
15-dim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92808" y="40233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75688" y="3794760"/>
            <a:ext cx="1463040" cy="731520"/>
          </a:xfrm>
          <a:prstGeom prst="rect">
            <a:avLst/>
          </a:prstGeom>
          <a:solidFill>
            <a:srgbClr val="1A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75688" y="38404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Layer 1
256-dim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7016" y="40233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39896" y="3794760"/>
            <a:ext cx="1463040" cy="731520"/>
          </a:xfrm>
          <a:prstGeom prst="rect">
            <a:avLst/>
          </a:prstGeom>
          <a:solidFill>
            <a:srgbClr val="1A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39896" y="38404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Layer 2
256-dim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1224" y="40233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4104" y="3794760"/>
            <a:ext cx="1463040" cy="731520"/>
          </a:xfrm>
          <a:prstGeom prst="rect">
            <a:avLst/>
          </a:prstGeom>
          <a:solidFill>
            <a:srgbClr val="1A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04104" y="38404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Layer 3
256-dim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85432" y="40233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68312" y="3794760"/>
            <a:ext cx="1463040" cy="731520"/>
          </a:xfrm>
          <a:prstGeom prst="rect">
            <a:avLst/>
          </a:prstGeom>
          <a:solidFill>
            <a:srgbClr val="1A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68312" y="38404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Layer 4
256-dim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0233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2520" y="3794760"/>
            <a:ext cx="1463040" cy="731520"/>
          </a:xfrm>
          <a:prstGeom prst="rect">
            <a:avLst/>
          </a:prstGeom>
          <a:solidFill>
            <a:srgbClr val="1B6CA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20" y="38404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Layer 5
64-dim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13848" y="40233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96728" y="3794760"/>
            <a:ext cx="1463040" cy="731520"/>
          </a:xfrm>
          <a:prstGeom prst="rect">
            <a:avLst/>
          </a:prstGeom>
          <a:solidFill>
            <a:srgbClr val="06D6A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96728" y="3840480"/>
            <a:ext cx="1463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Sigmoid
0 or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937760"/>
            <a:ext cx="5577840" cy="146304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4048" y="501091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Mean Aggregation (per layer)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5321808"/>
            <a:ext cx="53949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1.  For each node, collect features from neighbours
2.  Average all neighbour feature vectors
3.  Concatenate with own features
4.  Apply linear transform + activation (ReLU)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4937760"/>
            <a:ext cx="5806440" cy="146304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0488" y="5010912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Why 5 Layers? (Ablation-Justified)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0488" y="5321808"/>
            <a:ext cx="56235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6 layers → same Dice (84.00%) but 130K more params
512-dim  → +4.75pp Dice but 4× more parameters
GAT      → worse Dice, 2.7× more parameters
→ 5L, 256-dim is the optimal efficiency 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37160"/>
            <a:ext cx="411480" cy="32004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88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Training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Optimisation, Loss, and Cross-Validation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3749039" cy="237744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987552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Optimiser &amp; Scheduler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298448"/>
            <a:ext cx="3566159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Optimiser :  AdamW
  Learning rate :  1e-3
  Weight decay :  0.01
Scheduler :  OneCycleLR
  Warmup :  30% of total steps
  (gradual LR ramp-up to prevent
   early training instability)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914400"/>
            <a:ext cx="3749039" cy="237744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987552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Batch &amp;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1298448"/>
            <a:ext cx="3566159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Batch size :  24 graphs
Grad. accumulation :  ×2
Effective batch :  48 graphs
Precision :  AMP FP16
  (mixed precision — halves
   GPU memory, speeds training)
Max epochs :  50
Early stop patience :  10  (never triggered)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914400"/>
            <a:ext cx="3749039" cy="237744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987552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C42"/>
                </a:solidFill>
              </a:rPr>
              <a:t>Loss 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298448"/>
            <a:ext cx="3566159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Loss :  BCEWithLogitsLoss
Class imbalance problem:
  ~19 healthy : 1 tumour superpixel
Solution: positive class weight
  w+ = 9.0
  Forces model to penalise missed
  tumour detections more heavily
Dice smoothing ε = 1e-7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29000"/>
            <a:ext cx="5760720" cy="214884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5021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5-Fold Cross-Validation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813048"/>
            <a:ext cx="557784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1,000 BraTS 2021 patients split at PATIENT level:
  Each fold:   720 train  /  80 val  /  200 test
5 models trained independently on 5 splits
Ensemble:  average sigmoid probabilities
           from all 5 folds (soft voting)
Threshold: τ = 0.5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429000"/>
            <a:ext cx="5623560" cy="2148840"/>
          </a:xfrm>
          <a:prstGeom prst="rect">
            <a:avLst/>
          </a:prstGeom>
          <a:solidFill>
            <a:srgbClr val="1A2E44"/>
          </a:solidFill>
          <a:ln w="15240"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50215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D6E0"/>
                </a:solidFill>
              </a:rPr>
              <a:t>Hardware (Consumer-Grade Only)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3813048"/>
            <a:ext cx="5440680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CPU :   Intel Core i7-10700
RAM :   32 GB
GPU :   NVIDIA RTX 2060  —  6 GB VRAM
Python 3.12  ·  PyTorch 2.8.0  (CUDA 12.8)
PyTorch Geometric 2.6.1
scikit-image 0.25.2  ·  NumPy 2.3.3
Everything trained and tested on 6 GB VRAM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7150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0"/>
                </a:solidFill>
              </a:rPr>
              <a:t>Entire training pipeline — from superpixel construction to ensemble inference — runs on hardware available in most university labs.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